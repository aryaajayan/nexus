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6" d="100"/>
          <a:sy n="46" d="100"/>
        </p:scale>
        <p:origin x="57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81D314-901E-6852-232B-875C3C38B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C92754-C656-3B91-44C9-A61518121F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75B83-360B-2DAF-E27E-CE2AC8AA4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E28BE-F5AE-4C76-A36E-1359ADACA174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6929B-A600-CB36-D975-ED4713C5B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9EB7AC-11FC-69B3-8136-E175BB716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3975-28F5-4531-B951-C4EC3C02B7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930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9D05F-1908-02D8-CC87-7AB6D6B6C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CA134-1FDF-E091-B305-FCA297FD78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875980-22A7-E58A-83E6-B70216664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E28BE-F5AE-4C76-A36E-1359ADACA174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4A779-3A4C-A383-B0B9-B71199A42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656CE-611E-0799-AC0E-812C4BB64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3975-28F5-4531-B951-C4EC3C02B7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4975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1E800-6B60-39A4-E3F6-9BFAAEB5A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B1FEF9-07B8-CB2B-3B1A-508023E18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46C22-3824-2227-D25D-7E8CBD29F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E28BE-F5AE-4C76-A36E-1359ADACA174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73126-B0A9-BC2B-3C63-1BF1DFB6E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F3C78-8139-3880-4A23-28B35A0F6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3975-28F5-4531-B951-C4EC3C02B7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3962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77593-4625-9669-527A-055E15880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B4C03-81EC-B005-22E0-31EF521B81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4A9292-45BE-CBAD-E9C2-04E228D66F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A03EA0-4637-4FAC-3B24-8838B7740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E28BE-F5AE-4C76-A36E-1359ADACA174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5B14BF-8F31-9712-9718-A3504C73A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C965A-FC87-B6D7-B069-1F175DB9F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3975-28F5-4531-B951-C4EC3C02B7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8557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0DFA5-4F5C-D543-5868-A216ABAEA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F52891-0074-2574-FDFD-F6D999F02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785C25-A31B-340E-7B13-549E4663F2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7FBB50-2D98-7039-B036-8BFA235F94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6D0510-D218-46D4-71F1-3F7FDCE0FB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F99E20E-B194-0934-A028-E8C523C6E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E28BE-F5AE-4C76-A36E-1359ADACA174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C3F49B-E6B0-D40A-2293-CCD443B11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21F374-53BE-CC95-4B48-BF7ECD68E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3975-28F5-4531-B951-C4EC3C02B7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1608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3149C-2992-675E-629D-D5B315E6F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2D2080-17B6-5B31-88BC-CDC859303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E28BE-F5AE-4C76-A36E-1359ADACA174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675D4D-9160-B6A5-9283-B2C976D38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399A50-7495-A1CD-EFAB-4E8EC68A7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3975-28F5-4531-B951-C4EC3C02B7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6770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AEE38-872B-50E3-F34B-09F74C37C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E28BE-F5AE-4C76-A36E-1359ADACA174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5F0963-0E5E-2BD0-A76D-C95D071EB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1FAB58-7910-BB04-4BC2-92802B2E1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3975-28F5-4531-B951-C4EC3C02B7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8178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3BA12-6777-B3E9-13C7-A3821B7394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10836-B0D5-5B80-8362-F85133C30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D81FC5-C2A2-8F18-516F-AACFCD047F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B9996-4B51-0455-1AB2-0525AADB0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E28BE-F5AE-4C76-A36E-1359ADACA174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DF0539-4F20-C758-3273-B55030F91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BAD66-6BD5-B1D9-32C5-FD746DA9F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3975-28F5-4531-B951-C4EC3C02B7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4202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8F225-2356-A8F6-7121-CE7283B85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7D6E2B-E176-5793-9558-8A619E4E66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0602B5-2386-4077-F52A-B5939C9EF8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7B9E94-4955-0771-8339-3007938A3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E28BE-F5AE-4C76-A36E-1359ADACA174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665833-BF7C-D35B-DEB7-76D4ADB77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4F3849-1D06-D2E9-5726-0F0B5A062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3975-28F5-4531-B951-C4EC3C02B7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167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24E10-274D-36B4-7809-3B914D286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F1BF69-486E-7796-2F4B-B306A07FFA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CF46B4-D4CB-073E-146A-1B83313C5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E28BE-F5AE-4C76-A36E-1359ADACA174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3B1D90-3C0E-2638-A697-8794D1E9A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615A7-D773-0784-64CD-28D642C24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3975-28F5-4531-B951-C4EC3C02B7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278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04F8E4-619C-111C-3095-E13ACB9001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B559C8-1922-6FD4-DFE5-2BB0C181CF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BB1D7-D163-425D-71F4-A62FD5BD6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E28BE-F5AE-4C76-A36E-1359ADACA174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E8486-4A2E-C735-F889-1C4863583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2787A6-930C-CBA0-7E1F-826932BE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F3975-28F5-4531-B951-C4EC3C02B7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592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8EE1E6-A645-57EA-0056-559D83F90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4D4BD9-B090-C0E6-074D-0D74801A87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8AB8F-19C7-C9C0-E6DB-DC7DD42569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DE28BE-F5AE-4C76-A36E-1359ADACA174}" type="datetimeFigureOut">
              <a:rPr lang="en-IN" smtClean="0"/>
              <a:t>29-06-2026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39660-BB0E-18CA-392B-3F3038ECF3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1EAA02-6044-FFA0-AE9A-D3146318F9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1F3975-28F5-4531-B951-C4EC3C02B7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6276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941D46-0CDC-7241-F26C-86FADEC1F928}"/>
              </a:ext>
            </a:extLst>
          </p:cNvPr>
          <p:cNvSpPr txBox="1"/>
          <p:nvPr/>
        </p:nvSpPr>
        <p:spPr>
          <a:xfrm>
            <a:off x="1270000" y="1524000"/>
            <a:ext cx="9652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400" b="1">
                <a:solidFill>
                  <a:srgbClr val="818CF8"/>
                </a:solidFill>
                <a:latin typeface="Trebuchet MS" panose="020B0603020202020204" pitchFamily="34" charset="0"/>
              </a:rPr>
              <a:t>Redrob Challenge Submission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F846D9-3F19-2234-C9C5-1384D9F95DF5}"/>
              </a:ext>
            </a:extLst>
          </p:cNvPr>
          <p:cNvSpPr txBox="1"/>
          <p:nvPr/>
        </p:nvSpPr>
        <p:spPr>
          <a:xfrm>
            <a:off x="1270000" y="2032000"/>
            <a:ext cx="9652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5400" b="1">
                <a:solidFill>
                  <a:srgbClr val="FFFFFF"/>
                </a:solidFill>
                <a:latin typeface="Arial Black" panose="020B0A04020102020204" pitchFamily="34" charset="0"/>
              </a:rPr>
              <a:t>NEXUS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082004-3312-9980-E7E6-696D8B5BF1DE}"/>
              </a:ext>
            </a:extLst>
          </p:cNvPr>
          <p:cNvSpPr txBox="1"/>
          <p:nvPr/>
        </p:nvSpPr>
        <p:spPr>
          <a:xfrm>
            <a:off x="1270000" y="3048000"/>
            <a:ext cx="9652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>
                <a:solidFill>
                  <a:srgbClr val="94A3B8"/>
                </a:solidFill>
                <a:latin typeface="Calibri" panose="020F0502020204030204" pitchFamily="34" charset="0"/>
              </a:rPr>
              <a:t>Neural Explainable Candidate Understanding System</a:t>
            </a:r>
            <a:endParaRPr lang="en-IN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0FB584-8EA1-AA06-B853-C4C185F3761E}"/>
              </a:ext>
            </a:extLst>
          </p:cNvPr>
          <p:cNvSpPr txBox="1"/>
          <p:nvPr/>
        </p:nvSpPr>
        <p:spPr>
          <a:xfrm>
            <a:off x="1270000" y="4572000"/>
            <a:ext cx="304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 b="1">
                <a:solidFill>
                  <a:srgbClr val="94A3B8"/>
                </a:solidFill>
                <a:latin typeface="Calibri" panose="020F0502020204030204" pitchFamily="34" charset="0"/>
              </a:rPr>
              <a:t>TRACK
</a:t>
            </a:r>
            <a:r>
              <a:rPr lang="en-IN" sz="1400" b="1">
                <a:solidFill>
                  <a:srgbClr val="FFFFFF"/>
                </a:solidFill>
                <a:latin typeface="Trebuchet MS" panose="020B0603020202020204" pitchFamily="34" charset="0"/>
              </a:rPr>
              <a:t>Data &amp; AI Challenge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F0C84E1-D08E-DC88-2682-E6DD3870EFD7}"/>
              </a:ext>
            </a:extLst>
          </p:cNvPr>
          <p:cNvSpPr txBox="1"/>
          <p:nvPr/>
        </p:nvSpPr>
        <p:spPr>
          <a:xfrm>
            <a:off x="4572000" y="4572000"/>
            <a:ext cx="304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 b="1">
                <a:solidFill>
                  <a:srgbClr val="94A3B8"/>
                </a:solidFill>
                <a:latin typeface="Calibri" panose="020F0502020204030204" pitchFamily="34" charset="0"/>
              </a:rPr>
              <a:t>METHODOLOGY
</a:t>
            </a:r>
            <a:r>
              <a:rPr lang="en-IN" sz="1400" b="1">
                <a:solidFill>
                  <a:srgbClr val="FFFFFF"/>
                </a:solidFill>
                <a:latin typeface="Trebuchet MS" panose="020B0603020202020204" pitchFamily="34" charset="0"/>
              </a:rPr>
              <a:t>6-Layer Cascade Pipeline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1C5D34-D1AA-A9F1-2A88-10714CF9904E}"/>
              </a:ext>
            </a:extLst>
          </p:cNvPr>
          <p:cNvSpPr txBox="1"/>
          <p:nvPr/>
        </p:nvSpPr>
        <p:spPr>
          <a:xfrm>
            <a:off x="7874000" y="4572000"/>
            <a:ext cx="3048000" cy="46166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 b="1">
                <a:solidFill>
                  <a:srgbClr val="94A3B8"/>
                </a:solidFill>
                <a:latin typeface="Calibri" panose="020F0502020204030204" pitchFamily="34" charset="0"/>
              </a:rPr>
              <a:t>PERFORMANCE
</a:t>
            </a:r>
            <a:r>
              <a:rPr lang="en-US" sz="1400" b="1">
                <a:solidFill>
                  <a:srgbClr val="FFFFFF"/>
                </a:solidFill>
                <a:latin typeface="Trebuchet MS" panose="020B0603020202020204" pitchFamily="34" charset="0"/>
              </a:rPr>
              <a:t>100K Candidates in 84s (CPU)</a:t>
            </a:r>
            <a:endParaRPr lang="en-IN" sz="1400" b="1">
              <a:solidFill>
                <a:srgbClr val="FFFFFF"/>
              </a:solidFill>
              <a:latin typeface="Trebuchet MS" panose="020B06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31329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604690-70EF-065F-042F-C23DE1D653E1}"/>
              </a:ext>
            </a:extLst>
          </p:cNvPr>
          <p:cNvSpPr txBox="1"/>
          <p:nvPr/>
        </p:nvSpPr>
        <p:spPr>
          <a:xfrm>
            <a:off x="1016000" y="508000"/>
            <a:ext cx="762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 b="1">
                <a:solidFill>
                  <a:srgbClr val="818CF8"/>
                </a:solidFill>
                <a:latin typeface="Trebuchet MS" panose="020B0603020202020204" pitchFamily="34" charset="0"/>
              </a:rPr>
              <a:t>THE 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658308-83B9-C09B-4E80-66B832F98562}"/>
              </a:ext>
            </a:extLst>
          </p:cNvPr>
          <p:cNvSpPr txBox="1"/>
          <p:nvPr/>
        </p:nvSpPr>
        <p:spPr>
          <a:xfrm>
            <a:off x="1016000" y="762000"/>
            <a:ext cx="1016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Arial" panose="020B0604020202020204" pitchFamily="34" charset="0"/>
              </a:rPr>
              <a:t>Why Keyword Matching Fails in Hiring</a:t>
            </a:r>
            <a:endParaRPr lang="en-IN" sz="28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A6C153-9883-61EC-2035-7781709C9780}"/>
              </a:ext>
            </a:extLst>
          </p:cNvPr>
          <p:cNvSpPr txBox="1"/>
          <p:nvPr/>
        </p:nvSpPr>
        <p:spPr>
          <a:xfrm>
            <a:off x="1016000" y="1460500"/>
            <a:ext cx="1016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94A3B8"/>
                </a:solidFill>
                <a:latin typeface="Calibri" panose="020F0502020204030204" pitchFamily="34" charset="0"/>
              </a:rPr>
              <a:t>Traditional recruiter filters overlook high-potential candidates by counting keyword matches rather than modeling role compatibility. The challenge requires building a candidate ranker that behaves like an expert hiring manager.</a:t>
            </a:r>
            <a:endParaRPr lang="en-IN" sz="14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C59D67-5B1E-B378-2F27-E554FE2FC560}"/>
              </a:ext>
            </a:extLst>
          </p:cNvPr>
          <p:cNvSpPr/>
          <p:nvPr/>
        </p:nvSpPr>
        <p:spPr>
          <a:xfrm>
            <a:off x="1016000" y="2667000"/>
            <a:ext cx="3302000" cy="3048000"/>
          </a:xfrm>
          <a:prstGeom prst="rect">
            <a:avLst/>
          </a:prstGeom>
          <a:solidFill>
            <a:srgbClr val="161C2D"/>
          </a:solidFill>
          <a:ln w="1270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458E4D-6330-9EDB-D14B-9FC26711CFF8}"/>
              </a:ext>
            </a:extLst>
          </p:cNvPr>
          <p:cNvSpPr txBox="1"/>
          <p:nvPr/>
        </p:nvSpPr>
        <p:spPr>
          <a:xfrm>
            <a:off x="1143000" y="2794000"/>
            <a:ext cx="304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rial" panose="020B0604020202020204" pitchFamily="34" charset="0"/>
              </a:rPr>
              <a:t>✕ Keyword Stuffing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F4F501-BAE5-1203-8703-C69FC1E4D14E}"/>
              </a:ext>
            </a:extLst>
          </p:cNvPr>
          <p:cNvSpPr txBox="1"/>
          <p:nvPr/>
        </p:nvSpPr>
        <p:spPr>
          <a:xfrm>
            <a:off x="1143000" y="3302000"/>
            <a:ext cx="30480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Calibri" panose="020F0502020204030204" pitchFamily="34" charset="0"/>
              </a:rPr>
              <a:t>Profiles listing dozens of tech skills without actual career timeline evidence easily game search engines.</a:t>
            </a:r>
            <a:endParaRPr lang="en-IN" sz="11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EC8FB8-43A6-9D67-B738-60B9FD415634}"/>
              </a:ext>
            </a:extLst>
          </p:cNvPr>
          <p:cNvSpPr/>
          <p:nvPr/>
        </p:nvSpPr>
        <p:spPr>
          <a:xfrm>
            <a:off x="4572000" y="2667000"/>
            <a:ext cx="3302000" cy="3048000"/>
          </a:xfrm>
          <a:prstGeom prst="rect">
            <a:avLst/>
          </a:prstGeom>
          <a:solidFill>
            <a:srgbClr val="161C2D"/>
          </a:solidFill>
          <a:ln w="1270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17C20D-09D3-FEAC-D4D4-9AA0DA1D033E}"/>
              </a:ext>
            </a:extLst>
          </p:cNvPr>
          <p:cNvSpPr txBox="1"/>
          <p:nvPr/>
        </p:nvSpPr>
        <p:spPr>
          <a:xfrm>
            <a:off x="4699000" y="2794000"/>
            <a:ext cx="304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rial" panose="020B0604020202020204" pitchFamily="34" charset="0"/>
              </a:rPr>
              <a:t>✕ Synthetic Traps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0D122E-AF4B-0B04-EB31-7CEC871DF4C9}"/>
              </a:ext>
            </a:extLst>
          </p:cNvPr>
          <p:cNvSpPr txBox="1"/>
          <p:nvPr/>
        </p:nvSpPr>
        <p:spPr>
          <a:xfrm>
            <a:off x="4699000" y="3302000"/>
            <a:ext cx="30480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>
                <a:solidFill>
                  <a:srgbClr val="94A3B8"/>
                </a:solidFill>
                <a:latin typeface="Calibri" panose="020F0502020204030204" pitchFamily="34" charset="0"/>
              </a:rPr>
              <a:t>Over 80 honeypot profiles containing temporal inconsistencies or skill-duration paradoxes pollute the data.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1E6AD8-CC57-5216-759E-0E3C1719CB5D}"/>
              </a:ext>
            </a:extLst>
          </p:cNvPr>
          <p:cNvSpPr/>
          <p:nvPr/>
        </p:nvSpPr>
        <p:spPr>
          <a:xfrm>
            <a:off x="8128000" y="2667000"/>
            <a:ext cx="3302000" cy="3048000"/>
          </a:xfrm>
          <a:prstGeom prst="rect">
            <a:avLst/>
          </a:prstGeom>
          <a:solidFill>
            <a:srgbClr val="161C2D"/>
          </a:solidFill>
          <a:ln w="1270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32EFA4-A6FF-9F91-AE24-E35AA1E5468C}"/>
              </a:ext>
            </a:extLst>
          </p:cNvPr>
          <p:cNvSpPr txBox="1"/>
          <p:nvPr/>
        </p:nvSpPr>
        <p:spPr>
          <a:xfrm>
            <a:off x="8255000" y="2794000"/>
            <a:ext cx="304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rial" panose="020B0604020202020204" pitchFamily="34" charset="0"/>
              </a:rPr>
              <a:t>✕ Compute Limits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3CD073-51DA-5469-E5E2-5E9057BEA51E}"/>
              </a:ext>
            </a:extLst>
          </p:cNvPr>
          <p:cNvSpPr txBox="1"/>
          <p:nvPr/>
        </p:nvSpPr>
        <p:spPr>
          <a:xfrm>
            <a:off x="8255000" y="3302000"/>
            <a:ext cx="30480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Calibri" panose="020F0502020204030204" pitchFamily="34" charset="0"/>
              </a:rPr>
              <a:t>Ranking 100K candidates must execute locally in under 5 minutes on CPU without using web APIs (OpenAI, etc.).</a:t>
            </a:r>
            <a:endParaRPr lang="en-IN" sz="11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90EE63-E266-7A58-1DB5-F70B8CAE65D6}"/>
              </a:ext>
            </a:extLst>
          </p:cNvPr>
          <p:cNvSpPr txBox="1"/>
          <p:nvPr/>
        </p:nvSpPr>
        <p:spPr>
          <a:xfrm>
            <a:off x="1016000" y="6159500"/>
            <a:ext cx="1016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94A3B8"/>
                </a:solidFill>
                <a:latin typeface="Calibri" panose="020F0502020204030204" pitchFamily="34" charset="0"/>
              </a:rPr>
              <a:t>Slide 2 of 9 | NEXUS Candidate Discovery &amp; Ranking</a:t>
            </a:r>
            <a:endParaRPr lang="en-IN" sz="9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5173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A01B50-9257-8D28-B06E-D601AEBBFFD0}"/>
              </a:ext>
            </a:extLst>
          </p:cNvPr>
          <p:cNvSpPr txBox="1"/>
          <p:nvPr/>
        </p:nvSpPr>
        <p:spPr>
          <a:xfrm>
            <a:off x="1016000" y="508000"/>
            <a:ext cx="762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 b="1">
                <a:solidFill>
                  <a:srgbClr val="818CF8"/>
                </a:solidFill>
                <a:latin typeface="Trebuchet MS" panose="020B0603020202020204" pitchFamily="34" charset="0"/>
              </a:rPr>
              <a:t>SYSTEM DESIGN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279BEE-4E78-9E91-DA5F-D3A01CB18FCA}"/>
              </a:ext>
            </a:extLst>
          </p:cNvPr>
          <p:cNvSpPr txBox="1"/>
          <p:nvPr/>
        </p:nvSpPr>
        <p:spPr>
          <a:xfrm>
            <a:off x="1016000" y="762000"/>
            <a:ext cx="1016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FFFFFF"/>
                </a:solidFill>
                <a:latin typeface="Arial" panose="020B0604020202020204" pitchFamily="34" charset="0"/>
              </a:rPr>
              <a:t>The 6-Layer Ranking 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0540A9-86A9-3913-7E03-36C8F923756A}"/>
              </a:ext>
            </a:extLst>
          </p:cNvPr>
          <p:cNvSpPr txBox="1"/>
          <p:nvPr/>
        </p:nvSpPr>
        <p:spPr>
          <a:xfrm>
            <a:off x="1016000" y="1460500"/>
            <a:ext cx="1016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94A3B8"/>
                </a:solidFill>
                <a:latin typeface="Calibri" panose="020F0502020204030204" pitchFamily="34" charset="0"/>
              </a:rPr>
              <a:t>NEXUS replaces simple keyword searches with a multi-layered cascading evaluation engine. Each layer scoring is computed locally on CPU with zero network dependencies.</a:t>
            </a:r>
            <a:endParaRPr lang="en-IN" sz="14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F35630-6779-6FA1-340B-762488081E53}"/>
              </a:ext>
            </a:extLst>
          </p:cNvPr>
          <p:cNvSpPr/>
          <p:nvPr/>
        </p:nvSpPr>
        <p:spPr>
          <a:xfrm>
            <a:off x="1016000" y="2667000"/>
            <a:ext cx="3302000" cy="3048000"/>
          </a:xfrm>
          <a:prstGeom prst="rect">
            <a:avLst/>
          </a:prstGeom>
          <a:solidFill>
            <a:srgbClr val="161C2D"/>
          </a:solidFill>
          <a:ln w="1270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A5782D-81F3-82CA-EDAA-0D31C745190E}"/>
              </a:ext>
            </a:extLst>
          </p:cNvPr>
          <p:cNvSpPr txBox="1"/>
          <p:nvPr/>
        </p:nvSpPr>
        <p:spPr>
          <a:xfrm>
            <a:off x="1143000" y="2794000"/>
            <a:ext cx="304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rial" panose="020B0604020202020204" pitchFamily="34" charset="0"/>
              </a:rPr>
              <a:t>Layer 0-2: Fit &amp; Integrity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E5EE28-EA08-EABE-7565-651CA3B9116B}"/>
              </a:ext>
            </a:extLst>
          </p:cNvPr>
          <p:cNvSpPr txBox="1"/>
          <p:nvPr/>
        </p:nvSpPr>
        <p:spPr>
          <a:xfrm>
            <a:off x="1143000" y="3302000"/>
            <a:ext cx="30480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Calibri" panose="020F0502020204030204" pitchFamily="34" charset="0"/>
              </a:rPr>
              <a:t>• Layer 0: Integrity Shield filters honeypots
• Layer 1: JD Parser extracts constraints
• Layer 2: Career DNA tracks trajectory &amp; growth</a:t>
            </a:r>
            <a:endParaRPr lang="en-IN" sz="11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843A61-70BF-F322-3DEC-99557AB00302}"/>
              </a:ext>
            </a:extLst>
          </p:cNvPr>
          <p:cNvSpPr/>
          <p:nvPr/>
        </p:nvSpPr>
        <p:spPr>
          <a:xfrm>
            <a:off x="4572000" y="2667000"/>
            <a:ext cx="3302000" cy="3048000"/>
          </a:xfrm>
          <a:prstGeom prst="rect">
            <a:avLst/>
          </a:prstGeom>
          <a:solidFill>
            <a:srgbClr val="161C2D"/>
          </a:solidFill>
          <a:ln w="1270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112725-B608-DD94-1CCE-0A3B1AE8A2D2}"/>
              </a:ext>
            </a:extLst>
          </p:cNvPr>
          <p:cNvSpPr txBox="1"/>
          <p:nvPr/>
        </p:nvSpPr>
        <p:spPr>
          <a:xfrm>
            <a:off x="4699000" y="2794000"/>
            <a:ext cx="304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rial" panose="020B0604020202020204" pitchFamily="34" charset="0"/>
              </a:rPr>
              <a:t>Layer 3-4: Scoring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2DECD5-F897-393D-5C94-85F1BD9A5A64}"/>
              </a:ext>
            </a:extLst>
          </p:cNvPr>
          <p:cNvSpPr txBox="1"/>
          <p:nvPr/>
        </p:nvSpPr>
        <p:spPr>
          <a:xfrm>
            <a:off x="4699000" y="3302000"/>
            <a:ext cx="304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Calibri" panose="020F0502020204030204" pitchFamily="34" charset="0"/>
              </a:rPr>
              <a:t>• Layer 3: Semantic Scorer uses custom BM25
• Layer 4: Behavioral Scorer groups 23 signals</a:t>
            </a:r>
            <a:endParaRPr lang="en-IN" sz="11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E540F03-0931-BDA5-6531-E90912ED48D8}"/>
              </a:ext>
            </a:extLst>
          </p:cNvPr>
          <p:cNvSpPr/>
          <p:nvPr/>
        </p:nvSpPr>
        <p:spPr>
          <a:xfrm>
            <a:off x="8128000" y="2667000"/>
            <a:ext cx="3302000" cy="3048000"/>
          </a:xfrm>
          <a:prstGeom prst="rect">
            <a:avLst/>
          </a:prstGeom>
          <a:solidFill>
            <a:srgbClr val="161C2D"/>
          </a:solidFill>
          <a:ln w="1270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ACA6B4-0148-D4BE-A655-A2D52C7075D2}"/>
              </a:ext>
            </a:extLst>
          </p:cNvPr>
          <p:cNvSpPr txBox="1"/>
          <p:nvPr/>
        </p:nvSpPr>
        <p:spPr>
          <a:xfrm>
            <a:off x="8255000" y="2794000"/>
            <a:ext cx="304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rial" panose="020B0604020202020204" pitchFamily="34" charset="0"/>
              </a:rPr>
              <a:t>Layer 5: Decision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96B952-DA63-79C4-8990-9FC815D680B7}"/>
              </a:ext>
            </a:extLst>
          </p:cNvPr>
          <p:cNvSpPr txBox="1"/>
          <p:nvPr/>
        </p:nvSpPr>
        <p:spPr>
          <a:xfrm>
            <a:off x="8255000" y="3302000"/>
            <a:ext cx="304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100">
                <a:solidFill>
                  <a:srgbClr val="94A3B8"/>
                </a:solidFill>
                <a:latin typeface="Calibri" panose="020F0502020204030204" pitchFamily="34" charset="0"/>
              </a:rPr>
              <a:t>• Layer 5: Ensemble Ranker calibrates scores and generates natural explanations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A537D9-A07C-0535-B09E-D0783BA0CE45}"/>
              </a:ext>
            </a:extLst>
          </p:cNvPr>
          <p:cNvSpPr txBox="1"/>
          <p:nvPr/>
        </p:nvSpPr>
        <p:spPr>
          <a:xfrm>
            <a:off x="1016000" y="6159500"/>
            <a:ext cx="1016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94A3B8"/>
                </a:solidFill>
                <a:latin typeface="Calibri" panose="020F0502020204030204" pitchFamily="34" charset="0"/>
              </a:rPr>
              <a:t>Slide 3 of 9 | NEXUS Candidate Discovery &amp; Ranking</a:t>
            </a:r>
            <a:endParaRPr lang="en-IN" sz="9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196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5CE041-DDDC-5260-5935-893C59AFDDEC}"/>
              </a:ext>
            </a:extLst>
          </p:cNvPr>
          <p:cNvSpPr txBox="1"/>
          <p:nvPr/>
        </p:nvSpPr>
        <p:spPr>
          <a:xfrm>
            <a:off x="1016000" y="508000"/>
            <a:ext cx="762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 b="1">
                <a:solidFill>
                  <a:srgbClr val="818CF8"/>
                </a:solidFill>
                <a:latin typeface="Trebuchet MS" panose="020B0603020202020204" pitchFamily="34" charset="0"/>
              </a:rPr>
              <a:t>PERFORMANCE ENGINEERING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F8AB68-9CC1-C95E-C8B9-A82270C14C50}"/>
              </a:ext>
            </a:extLst>
          </p:cNvPr>
          <p:cNvSpPr txBox="1"/>
          <p:nvPr/>
        </p:nvSpPr>
        <p:spPr>
          <a:xfrm>
            <a:off x="1016000" y="762000"/>
            <a:ext cx="1016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FFFFFF"/>
                </a:solidFill>
                <a:latin typeface="Arial" panose="020B0604020202020204" pitchFamily="34" charset="0"/>
              </a:rPr>
              <a:t>3-Tier Cascading Filter Design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959BBA-4A70-F308-8796-7E07C3765AA2}"/>
              </a:ext>
            </a:extLst>
          </p:cNvPr>
          <p:cNvSpPr txBox="1"/>
          <p:nvPr/>
        </p:nvSpPr>
        <p:spPr>
          <a:xfrm>
            <a:off x="1016000" y="1460500"/>
            <a:ext cx="1016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94A3B8"/>
                </a:solidFill>
                <a:latin typeface="Calibri" panose="020F0502020204030204" pitchFamily="34" charset="0"/>
              </a:rPr>
              <a:t>Processing 100K profiles directly through multi-dimensional scoring would violate the 5-minute limit. NEXUS uses a cascading pipeline to optimize execution speed.</a:t>
            </a:r>
            <a:endParaRPr lang="en-IN" sz="14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6C809E-ED6C-2587-93C4-AF840D31D3E2}"/>
              </a:ext>
            </a:extLst>
          </p:cNvPr>
          <p:cNvSpPr/>
          <p:nvPr/>
        </p:nvSpPr>
        <p:spPr>
          <a:xfrm>
            <a:off x="1016000" y="2667000"/>
            <a:ext cx="3302000" cy="3048000"/>
          </a:xfrm>
          <a:prstGeom prst="rect">
            <a:avLst/>
          </a:prstGeom>
          <a:solidFill>
            <a:srgbClr val="161C2D"/>
          </a:solidFill>
          <a:ln w="1270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C51138-54FA-827B-C8B5-B726B71413DD}"/>
              </a:ext>
            </a:extLst>
          </p:cNvPr>
          <p:cNvSpPr txBox="1"/>
          <p:nvPr/>
        </p:nvSpPr>
        <p:spPr>
          <a:xfrm>
            <a:off x="1143000" y="2794000"/>
            <a:ext cx="304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rial" panose="020B0604020202020204" pitchFamily="34" charset="0"/>
              </a:rPr>
              <a:t>Tier 1: Hard Filter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93B0048-3B70-C280-9BD2-FB0E104E885E}"/>
              </a:ext>
            </a:extLst>
          </p:cNvPr>
          <p:cNvSpPr txBox="1"/>
          <p:nvPr/>
        </p:nvSpPr>
        <p:spPr>
          <a:xfrm>
            <a:off x="1143000" y="3302000"/>
            <a:ext cx="30480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Calibri" panose="020F0502020204030204" pitchFamily="34" charset="0"/>
              </a:rPr>
              <a:t>• Checks minimum AI relevance &amp; JD rules
• Funnels 100,000 → 39,012 candidates
• Execution time: 46.7s</a:t>
            </a:r>
            <a:endParaRPr lang="en-IN" sz="11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B97E263-337F-F2A8-7A63-C4FD17145CC0}"/>
              </a:ext>
            </a:extLst>
          </p:cNvPr>
          <p:cNvSpPr/>
          <p:nvPr/>
        </p:nvSpPr>
        <p:spPr>
          <a:xfrm>
            <a:off x="4572000" y="2667000"/>
            <a:ext cx="3302000" cy="3048000"/>
          </a:xfrm>
          <a:prstGeom prst="rect">
            <a:avLst/>
          </a:prstGeom>
          <a:solidFill>
            <a:srgbClr val="161C2D"/>
          </a:solidFill>
          <a:ln w="1270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B72BED-FEF3-8D32-8E3B-3DA4CF0AF59D}"/>
              </a:ext>
            </a:extLst>
          </p:cNvPr>
          <p:cNvSpPr txBox="1"/>
          <p:nvPr/>
        </p:nvSpPr>
        <p:spPr>
          <a:xfrm>
            <a:off x="4699000" y="2794000"/>
            <a:ext cx="304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rial" panose="020B0604020202020204" pitchFamily="34" charset="0"/>
              </a:rPr>
              <a:t>Tier 2: BM25 Pre-rank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CC8AFF-9C09-F1BC-9610-B4384C3B3C81}"/>
              </a:ext>
            </a:extLst>
          </p:cNvPr>
          <p:cNvSpPr txBox="1"/>
          <p:nvPr/>
        </p:nvSpPr>
        <p:spPr>
          <a:xfrm>
            <a:off x="4699000" y="3302000"/>
            <a:ext cx="30480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Calibri" panose="020F0502020204030204" pitchFamily="34" charset="0"/>
              </a:rPr>
              <a:t>• High-speed custom BM25 index matching
• Funnels 39,012 → 600 candidates
• Execution time: 22.2s</a:t>
            </a:r>
            <a:endParaRPr lang="en-IN" sz="11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BDE675-3CAB-BFE1-B522-DEF0D14BA1A4}"/>
              </a:ext>
            </a:extLst>
          </p:cNvPr>
          <p:cNvSpPr/>
          <p:nvPr/>
        </p:nvSpPr>
        <p:spPr>
          <a:xfrm>
            <a:off x="8128000" y="2667000"/>
            <a:ext cx="3302000" cy="3048000"/>
          </a:xfrm>
          <a:prstGeom prst="rect">
            <a:avLst/>
          </a:prstGeom>
          <a:solidFill>
            <a:srgbClr val="161C2D"/>
          </a:solidFill>
          <a:ln w="1270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7DEC06-7784-F04E-E774-C0BADD99D5D5}"/>
              </a:ext>
            </a:extLst>
          </p:cNvPr>
          <p:cNvSpPr txBox="1"/>
          <p:nvPr/>
        </p:nvSpPr>
        <p:spPr>
          <a:xfrm>
            <a:off x="8255000" y="2794000"/>
            <a:ext cx="304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rial" panose="020B0604020202020204" pitchFamily="34" charset="0"/>
              </a:rPr>
              <a:t>Tier 3: Full Scoring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B9D0316-604B-0D74-5272-C8F9315FFF4C}"/>
              </a:ext>
            </a:extLst>
          </p:cNvPr>
          <p:cNvSpPr txBox="1"/>
          <p:nvPr/>
        </p:nvSpPr>
        <p:spPr>
          <a:xfrm>
            <a:off x="8255000" y="3302000"/>
            <a:ext cx="30480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Calibri" panose="020F0502020204030204" pitchFamily="34" charset="0"/>
              </a:rPr>
              <a:t>• Complete 6-layer precision scorer &amp; explainer
• Funnels 600 → top 100 shortlist
• Execution time: 1.4s</a:t>
            </a:r>
            <a:endParaRPr lang="en-IN" sz="11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489F2C-F97D-F077-A4CB-C590661798F8}"/>
              </a:ext>
            </a:extLst>
          </p:cNvPr>
          <p:cNvSpPr txBox="1"/>
          <p:nvPr/>
        </p:nvSpPr>
        <p:spPr>
          <a:xfrm>
            <a:off x="1016000" y="6159500"/>
            <a:ext cx="1016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94A3B8"/>
                </a:solidFill>
                <a:latin typeface="Calibri" panose="020F0502020204030204" pitchFamily="34" charset="0"/>
              </a:rPr>
              <a:t>Slide 4 of 9 | NEXUS Candidate Discovery &amp; Ranking</a:t>
            </a:r>
            <a:endParaRPr lang="en-IN" sz="9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683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D2F4C8-3451-7BE4-FF6F-CB5DEF2706C2}"/>
              </a:ext>
            </a:extLst>
          </p:cNvPr>
          <p:cNvSpPr txBox="1"/>
          <p:nvPr/>
        </p:nvSpPr>
        <p:spPr>
          <a:xfrm>
            <a:off x="1016000" y="508000"/>
            <a:ext cx="762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 b="1">
                <a:solidFill>
                  <a:srgbClr val="818CF8"/>
                </a:solidFill>
                <a:latin typeface="Trebuchet MS" panose="020B0603020202020204" pitchFamily="34" charset="0"/>
              </a:rPr>
              <a:t>LAYER 0 — PROTECTION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377183-2898-8CDF-BED0-D17335B3F6DC}"/>
              </a:ext>
            </a:extLst>
          </p:cNvPr>
          <p:cNvSpPr txBox="1"/>
          <p:nvPr/>
        </p:nvSpPr>
        <p:spPr>
          <a:xfrm>
            <a:off x="1016000" y="762000"/>
            <a:ext cx="1016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Arial" panose="020B0604020202020204" pitchFamily="34" charset="0"/>
              </a:rPr>
              <a:t>Integrity Shield: Achieving 0% Honeypot Rate</a:t>
            </a:r>
            <a:endParaRPr lang="en-IN" sz="28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EE86F-0BF4-A9E7-F42E-C6EDDD400979}"/>
              </a:ext>
            </a:extLst>
          </p:cNvPr>
          <p:cNvSpPr txBox="1"/>
          <p:nvPr/>
        </p:nvSpPr>
        <p:spPr>
          <a:xfrm>
            <a:off x="1016000" y="1460500"/>
            <a:ext cx="1016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94A3B8"/>
                </a:solidFill>
                <a:latin typeface="Calibri" panose="020F0502020204030204" pitchFamily="34" charset="0"/>
              </a:rPr>
              <a:t>To protect the ranking shortlist from synthetic, paradoxical, or corrupted profiles, NEXUS executes 6 independent statistical and timeline integrity checks.</a:t>
            </a:r>
            <a:endParaRPr lang="en-IN" sz="14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830071-953F-B626-9E59-AB1A45776400}"/>
              </a:ext>
            </a:extLst>
          </p:cNvPr>
          <p:cNvSpPr/>
          <p:nvPr/>
        </p:nvSpPr>
        <p:spPr>
          <a:xfrm>
            <a:off x="1016000" y="2667000"/>
            <a:ext cx="3302000" cy="3048000"/>
          </a:xfrm>
          <a:prstGeom prst="rect">
            <a:avLst/>
          </a:prstGeom>
          <a:solidFill>
            <a:srgbClr val="161C2D"/>
          </a:solidFill>
          <a:ln w="1270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255A3A-BCFD-5EE1-F1C9-BC54D87A2D6A}"/>
              </a:ext>
            </a:extLst>
          </p:cNvPr>
          <p:cNvSpPr txBox="1"/>
          <p:nvPr/>
        </p:nvSpPr>
        <p:spPr>
          <a:xfrm>
            <a:off x="1143000" y="2794000"/>
            <a:ext cx="304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rial" panose="020B0604020202020204" pitchFamily="34" charset="0"/>
              </a:rPr>
              <a:t>Temporal &amp; Paradox Audits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77EBD3-9384-46B2-9502-F8B6D8E9997D}"/>
              </a:ext>
            </a:extLst>
          </p:cNvPr>
          <p:cNvSpPr txBox="1"/>
          <p:nvPr/>
        </p:nvSpPr>
        <p:spPr>
          <a:xfrm>
            <a:off x="1143000" y="3302000"/>
            <a:ext cx="30480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Calibri" panose="020F0502020204030204" pitchFamily="34" charset="0"/>
              </a:rPr>
              <a:t>• Identifies start/end date inconsistencies
• Detects 'expert' skills claimed with 0 months experience</a:t>
            </a:r>
            <a:endParaRPr lang="en-IN" sz="11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6EC5CE-877B-8EDB-075D-1C7A36DF5267}"/>
              </a:ext>
            </a:extLst>
          </p:cNvPr>
          <p:cNvSpPr/>
          <p:nvPr/>
        </p:nvSpPr>
        <p:spPr>
          <a:xfrm>
            <a:off x="4572000" y="2667000"/>
            <a:ext cx="3302000" cy="3048000"/>
          </a:xfrm>
          <a:prstGeom prst="rect">
            <a:avLst/>
          </a:prstGeom>
          <a:solidFill>
            <a:srgbClr val="161C2D"/>
          </a:solidFill>
          <a:ln w="1270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30C1E9-2CC5-B8A0-8530-BAC8B432CCE2}"/>
              </a:ext>
            </a:extLst>
          </p:cNvPr>
          <p:cNvSpPr txBox="1"/>
          <p:nvPr/>
        </p:nvSpPr>
        <p:spPr>
          <a:xfrm>
            <a:off x="4699000" y="2794000"/>
            <a:ext cx="304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rial" panose="020B0604020202020204" pitchFamily="34" charset="0"/>
              </a:rPr>
              <a:t>Title-Career Mismatch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4F16C9-55CD-3270-FF69-B5995A67EFF4}"/>
              </a:ext>
            </a:extLst>
          </p:cNvPr>
          <p:cNvSpPr txBox="1"/>
          <p:nvPr/>
        </p:nvSpPr>
        <p:spPr>
          <a:xfrm>
            <a:off x="4699000" y="3302000"/>
            <a:ext cx="304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Calibri" panose="020F0502020204030204" pitchFamily="34" charset="0"/>
              </a:rPr>
              <a:t>• Flags profiles claiming senior ML titles but having purely non-technical histories</a:t>
            </a:r>
            <a:endParaRPr lang="en-IN" sz="11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68F7B28-FEB4-E116-EA46-7C472E3269E8}"/>
              </a:ext>
            </a:extLst>
          </p:cNvPr>
          <p:cNvSpPr/>
          <p:nvPr/>
        </p:nvSpPr>
        <p:spPr>
          <a:xfrm>
            <a:off x="8128000" y="2667000"/>
            <a:ext cx="3302000" cy="3048000"/>
          </a:xfrm>
          <a:prstGeom prst="rect">
            <a:avLst/>
          </a:prstGeom>
          <a:solidFill>
            <a:srgbClr val="161C2D"/>
          </a:solidFill>
          <a:ln w="1270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DB54B5-BA6E-DF46-8FFF-B06A4E121B9C}"/>
              </a:ext>
            </a:extLst>
          </p:cNvPr>
          <p:cNvSpPr txBox="1"/>
          <p:nvPr/>
        </p:nvSpPr>
        <p:spPr>
          <a:xfrm>
            <a:off x="8255000" y="2794000"/>
            <a:ext cx="304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rial" panose="020B0604020202020204" pitchFamily="34" charset="0"/>
              </a:rPr>
              <a:t>Skills &amp; Uniformity checks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206150-63EC-8A08-06EE-74977B8598D8}"/>
              </a:ext>
            </a:extLst>
          </p:cNvPr>
          <p:cNvSpPr txBox="1"/>
          <p:nvPr/>
        </p:nvSpPr>
        <p:spPr>
          <a:xfrm>
            <a:off x="8255000" y="3302000"/>
            <a:ext cx="304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Calibri" panose="020F0502020204030204" pitchFamily="34" charset="0"/>
              </a:rPr>
              <a:t>• Penalizes implausible skill counts (10+ experts)
• Flags suspiciously uniform exam scores</a:t>
            </a:r>
            <a:endParaRPr lang="en-IN" sz="11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C57892-1046-2DED-9AD8-4CECBFDC4663}"/>
              </a:ext>
            </a:extLst>
          </p:cNvPr>
          <p:cNvSpPr txBox="1"/>
          <p:nvPr/>
        </p:nvSpPr>
        <p:spPr>
          <a:xfrm>
            <a:off x="1016000" y="6159500"/>
            <a:ext cx="1016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94A3B8"/>
                </a:solidFill>
                <a:latin typeface="Calibri" panose="020F0502020204030204" pitchFamily="34" charset="0"/>
              </a:rPr>
              <a:t>Slide 5 of 9 | NEXUS Candidate Discovery &amp; Ranking</a:t>
            </a:r>
            <a:endParaRPr lang="en-IN" sz="9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0034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ECC078-2DA5-D576-48B2-3414A3109A7F}"/>
              </a:ext>
            </a:extLst>
          </p:cNvPr>
          <p:cNvSpPr txBox="1"/>
          <p:nvPr/>
        </p:nvSpPr>
        <p:spPr>
          <a:xfrm>
            <a:off x="1016000" y="508000"/>
            <a:ext cx="762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 b="1">
                <a:solidFill>
                  <a:srgbClr val="818CF8"/>
                </a:solidFill>
                <a:latin typeface="Trebuchet MS" panose="020B0603020202020204" pitchFamily="34" charset="0"/>
              </a:rPr>
              <a:t>LAYER 2 — CONTEXTUAL FIT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2EE121-0E86-13C5-4244-32EEB6571B6E}"/>
              </a:ext>
            </a:extLst>
          </p:cNvPr>
          <p:cNvSpPr txBox="1"/>
          <p:nvPr/>
        </p:nvSpPr>
        <p:spPr>
          <a:xfrm>
            <a:off x="1016000" y="762000"/>
            <a:ext cx="1016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 b="1">
                <a:solidFill>
                  <a:srgbClr val="FFFFFF"/>
                </a:solidFill>
                <a:latin typeface="Arial" panose="020B0604020202020204" pitchFamily="34" charset="0"/>
              </a:rPr>
              <a:t>Career DNA Trajectory Extraction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F305C-18B9-C7E7-2ABF-74F0E0D863C1}"/>
              </a:ext>
            </a:extLst>
          </p:cNvPr>
          <p:cNvSpPr txBox="1"/>
          <p:nvPr/>
        </p:nvSpPr>
        <p:spPr>
          <a:xfrm>
            <a:off x="1016000" y="1460500"/>
            <a:ext cx="1016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94A3B8"/>
                </a:solidFill>
                <a:latin typeface="Calibri" panose="020F0502020204030204" pitchFamily="34" charset="0"/>
              </a:rPr>
              <a:t>A candidate's suitability is not the sum of their keyword matches. NEXUS inspects the chronological structure of their history to assess quality and growth.</a:t>
            </a:r>
            <a:endParaRPr lang="en-IN" sz="14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F822B8-740D-A204-F6EE-5F68DFB4B48A}"/>
              </a:ext>
            </a:extLst>
          </p:cNvPr>
          <p:cNvSpPr/>
          <p:nvPr/>
        </p:nvSpPr>
        <p:spPr>
          <a:xfrm>
            <a:off x="1016000" y="2667000"/>
            <a:ext cx="3302000" cy="3048000"/>
          </a:xfrm>
          <a:prstGeom prst="rect">
            <a:avLst/>
          </a:prstGeom>
          <a:solidFill>
            <a:srgbClr val="161C2D"/>
          </a:solidFill>
          <a:ln w="1270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16DCC8-D196-13D4-90EF-B08CDFAFFBD6}"/>
              </a:ext>
            </a:extLst>
          </p:cNvPr>
          <p:cNvSpPr txBox="1"/>
          <p:nvPr/>
        </p:nvSpPr>
        <p:spPr>
          <a:xfrm>
            <a:off x="1143000" y="2794000"/>
            <a:ext cx="304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rial" panose="020B0604020202020204" pitchFamily="34" charset="0"/>
              </a:rPr>
              <a:t>Product Company Focus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196E67-ED4E-79E6-4258-DFE9B9167403}"/>
              </a:ext>
            </a:extLst>
          </p:cNvPr>
          <p:cNvSpPr txBox="1"/>
          <p:nvPr/>
        </p:nvSpPr>
        <p:spPr>
          <a:xfrm>
            <a:off x="1143000" y="3302000"/>
            <a:ext cx="3048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Calibri" panose="020F0502020204030204" pitchFamily="34" charset="0"/>
              </a:rPr>
              <a:t>Calculates the proportion of career months spent at product organizations versus services/consulting firms (TCS, Wipro, etc.). Product engineers are prioritized.</a:t>
            </a:r>
            <a:endParaRPr lang="en-IN" sz="11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B4D14C-4B53-2BDF-6FAA-6020CE9A8820}"/>
              </a:ext>
            </a:extLst>
          </p:cNvPr>
          <p:cNvSpPr/>
          <p:nvPr/>
        </p:nvSpPr>
        <p:spPr>
          <a:xfrm>
            <a:off x="4572000" y="2667000"/>
            <a:ext cx="3302000" cy="3048000"/>
          </a:xfrm>
          <a:prstGeom prst="rect">
            <a:avLst/>
          </a:prstGeom>
          <a:solidFill>
            <a:srgbClr val="161C2D"/>
          </a:solidFill>
          <a:ln w="1270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A524A8-9E1E-12B5-B426-798B1571262C}"/>
              </a:ext>
            </a:extLst>
          </p:cNvPr>
          <p:cNvSpPr txBox="1"/>
          <p:nvPr/>
        </p:nvSpPr>
        <p:spPr>
          <a:xfrm>
            <a:off x="4699000" y="2794000"/>
            <a:ext cx="304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rial" panose="020B0604020202020204" pitchFamily="34" charset="0"/>
              </a:rPr>
              <a:t>Keyword Stuffing Filter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F0E7759-02EE-3420-B788-8F6B106D8D01}"/>
              </a:ext>
            </a:extLst>
          </p:cNvPr>
          <p:cNvSpPr txBox="1"/>
          <p:nvPr/>
        </p:nvSpPr>
        <p:spPr>
          <a:xfrm>
            <a:off x="4699000" y="3302000"/>
            <a:ext cx="3048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Calibri" panose="020F0502020204030204" pitchFamily="34" charset="0"/>
              </a:rPr>
              <a:t>Compares claimed skills against actual career description logs. If a candidate claims a skill but has zero mention in their career history, their score is penalized.</a:t>
            </a:r>
            <a:endParaRPr lang="en-IN" sz="11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5AEFD7-5D03-5FDC-2CD5-2AAF5010A4DC}"/>
              </a:ext>
            </a:extLst>
          </p:cNvPr>
          <p:cNvSpPr/>
          <p:nvPr/>
        </p:nvSpPr>
        <p:spPr>
          <a:xfrm>
            <a:off x="8128000" y="2667000"/>
            <a:ext cx="3302000" cy="3048000"/>
          </a:xfrm>
          <a:prstGeom prst="rect">
            <a:avLst/>
          </a:prstGeom>
          <a:solidFill>
            <a:srgbClr val="161C2D"/>
          </a:solidFill>
          <a:ln w="1270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D93CCD-ACD4-C9DD-840C-6FE7A6D28C51}"/>
              </a:ext>
            </a:extLst>
          </p:cNvPr>
          <p:cNvSpPr txBox="1"/>
          <p:nvPr/>
        </p:nvSpPr>
        <p:spPr>
          <a:xfrm>
            <a:off x="8255000" y="2794000"/>
            <a:ext cx="304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rial" panose="020B0604020202020204" pitchFamily="34" charset="0"/>
              </a:rPr>
              <a:t>Growth &amp; Education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A9D02B-F314-CCEE-A13D-B28AD62DB55E}"/>
              </a:ext>
            </a:extLst>
          </p:cNvPr>
          <p:cNvSpPr txBox="1"/>
          <p:nvPr/>
        </p:nvSpPr>
        <p:spPr>
          <a:xfrm>
            <a:off x="8255000" y="3302000"/>
            <a:ext cx="30480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Calibri" panose="020F0502020204030204" pitchFamily="34" charset="0"/>
              </a:rPr>
              <a:t>Evaluates rank advancement over time (IC growth) and parses school/major relevance to estimate educational prestige.</a:t>
            </a:r>
            <a:endParaRPr lang="en-IN" sz="11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B2C167-B5AB-3159-C051-A525ADF652C4}"/>
              </a:ext>
            </a:extLst>
          </p:cNvPr>
          <p:cNvSpPr txBox="1"/>
          <p:nvPr/>
        </p:nvSpPr>
        <p:spPr>
          <a:xfrm>
            <a:off x="1016000" y="6159500"/>
            <a:ext cx="1016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94A3B8"/>
                </a:solidFill>
                <a:latin typeface="Calibri" panose="020F0502020204030204" pitchFamily="34" charset="0"/>
              </a:rPr>
              <a:t>Slide 6 of 9 | NEXUS Candidate Discovery &amp; Ranking</a:t>
            </a:r>
            <a:endParaRPr lang="en-IN" sz="9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50042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63E138-8B65-C1E6-6DE5-4A915D8B8D01}"/>
              </a:ext>
            </a:extLst>
          </p:cNvPr>
          <p:cNvSpPr txBox="1"/>
          <p:nvPr/>
        </p:nvSpPr>
        <p:spPr>
          <a:xfrm>
            <a:off x="1016000" y="508000"/>
            <a:ext cx="762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 b="1">
                <a:solidFill>
                  <a:srgbClr val="818CF8"/>
                </a:solidFill>
                <a:latin typeface="Trebuchet MS" panose="020B0603020202020204" pitchFamily="34" charset="0"/>
              </a:rPr>
              <a:t>LAYER 4 — CANDIDATE INTENT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F3207B-7AB3-85F7-E594-08BB72F9EB7B}"/>
              </a:ext>
            </a:extLst>
          </p:cNvPr>
          <p:cNvSpPr txBox="1"/>
          <p:nvPr/>
        </p:nvSpPr>
        <p:spPr>
          <a:xfrm>
            <a:off x="1016000" y="762000"/>
            <a:ext cx="1016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Arial" panose="020B0604020202020204" pitchFamily="34" charset="0"/>
              </a:rPr>
              <a:t>Fusing 23 Redrob Behavioral Signals</a:t>
            </a:r>
            <a:endParaRPr lang="en-IN" sz="28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6B2950-5FF7-FA69-9751-16ED8E4F2A13}"/>
              </a:ext>
            </a:extLst>
          </p:cNvPr>
          <p:cNvSpPr txBox="1"/>
          <p:nvPr/>
        </p:nvSpPr>
        <p:spPr>
          <a:xfrm>
            <a:off x="1016000" y="1460500"/>
            <a:ext cx="1016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94A3B8"/>
                </a:solidFill>
                <a:latin typeface="Calibri" panose="020F0502020204030204" pitchFamily="34" charset="0"/>
              </a:rPr>
              <a:t>A perfect candidate is of no use to a recruiter if they are unresponsive. NEXUS groups 23 behavioral indicators into 5 composite indices used as a final score multiplier.</a:t>
            </a:r>
            <a:endParaRPr lang="en-IN" sz="14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595C3DA-F265-817C-F77E-FC5F0EEBA5E3}"/>
              </a:ext>
            </a:extLst>
          </p:cNvPr>
          <p:cNvSpPr/>
          <p:nvPr/>
        </p:nvSpPr>
        <p:spPr>
          <a:xfrm>
            <a:off x="1016000" y="2667000"/>
            <a:ext cx="3302000" cy="3048000"/>
          </a:xfrm>
          <a:prstGeom prst="rect">
            <a:avLst/>
          </a:prstGeom>
          <a:solidFill>
            <a:srgbClr val="161C2D"/>
          </a:solidFill>
          <a:ln w="1270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17AA73-26BC-EFCA-2AE6-F2359E67C5B1}"/>
              </a:ext>
            </a:extLst>
          </p:cNvPr>
          <p:cNvSpPr txBox="1"/>
          <p:nvPr/>
        </p:nvSpPr>
        <p:spPr>
          <a:xfrm>
            <a:off x="1143000" y="2794000"/>
            <a:ext cx="304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rial" panose="020B0604020202020204" pitchFamily="34" charset="0"/>
              </a:rPr>
              <a:t>Indices 1-3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AC1D27-1F8C-560B-517F-3D5365CC4DED}"/>
              </a:ext>
            </a:extLst>
          </p:cNvPr>
          <p:cNvSpPr txBox="1"/>
          <p:nvPr/>
        </p:nvSpPr>
        <p:spPr>
          <a:xfrm>
            <a:off x="1143000" y="3302000"/>
            <a:ext cx="30480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Calibri" panose="020F0502020204030204" pitchFamily="34" charset="0"/>
              </a:rPr>
              <a:t>• Availability: Login freq &amp; job-seeking status
• Engagement: Latency &amp; message response rate
• Location Fit: Relocation &amp; geo-match</a:t>
            </a:r>
            <a:endParaRPr lang="en-IN" sz="11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A3A5C9F-91AC-5187-87D0-AC09C29F6C3D}"/>
              </a:ext>
            </a:extLst>
          </p:cNvPr>
          <p:cNvSpPr/>
          <p:nvPr/>
        </p:nvSpPr>
        <p:spPr>
          <a:xfrm>
            <a:off x="4572000" y="2667000"/>
            <a:ext cx="3302000" cy="3048000"/>
          </a:xfrm>
          <a:prstGeom prst="rect">
            <a:avLst/>
          </a:prstGeom>
          <a:solidFill>
            <a:srgbClr val="161C2D"/>
          </a:solidFill>
          <a:ln w="1270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F4A1E4-15C8-A6BB-E62B-482A45333D6A}"/>
              </a:ext>
            </a:extLst>
          </p:cNvPr>
          <p:cNvSpPr txBox="1"/>
          <p:nvPr/>
        </p:nvSpPr>
        <p:spPr>
          <a:xfrm>
            <a:off x="4699000" y="2794000"/>
            <a:ext cx="304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rial" panose="020B0604020202020204" pitchFamily="34" charset="0"/>
              </a:rPr>
              <a:t>Indices 4-5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950FBA-B25C-E1C4-D120-9E8B314B622F}"/>
              </a:ext>
            </a:extLst>
          </p:cNvPr>
          <p:cNvSpPr txBox="1"/>
          <p:nvPr/>
        </p:nvSpPr>
        <p:spPr>
          <a:xfrm>
            <a:off x="4699000" y="3302000"/>
            <a:ext cx="304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Calibri" panose="020F0502020204030204" pitchFamily="34" charset="0"/>
              </a:rPr>
              <a:t>• Trust: Verified identity &amp; phone validation
• Capability: Coding score &amp; code quality metrics</a:t>
            </a:r>
            <a:endParaRPr lang="en-IN" sz="11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4078FE6-8262-7C4D-C907-337836F97CB3}"/>
              </a:ext>
            </a:extLst>
          </p:cNvPr>
          <p:cNvSpPr/>
          <p:nvPr/>
        </p:nvSpPr>
        <p:spPr>
          <a:xfrm>
            <a:off x="8128000" y="2667000"/>
            <a:ext cx="3302000" cy="3048000"/>
          </a:xfrm>
          <a:prstGeom prst="rect">
            <a:avLst/>
          </a:prstGeom>
          <a:solidFill>
            <a:srgbClr val="161C2D"/>
          </a:solidFill>
          <a:ln w="1270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2F56BA0-2B62-4DC9-FE25-C2FD58B1940F}"/>
              </a:ext>
            </a:extLst>
          </p:cNvPr>
          <p:cNvSpPr txBox="1"/>
          <p:nvPr/>
        </p:nvSpPr>
        <p:spPr>
          <a:xfrm>
            <a:off x="8255000" y="2794000"/>
            <a:ext cx="304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rial" panose="020B0604020202020204" pitchFamily="34" charset="0"/>
              </a:rPr>
              <a:t>Multiplicative Modifier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5BA2AE-5460-BE64-6C30-CA07B78BA5F5}"/>
              </a:ext>
            </a:extLst>
          </p:cNvPr>
          <p:cNvSpPr txBox="1"/>
          <p:nvPr/>
        </p:nvSpPr>
        <p:spPr>
          <a:xfrm>
            <a:off x="8255000" y="3302000"/>
            <a:ext cx="30480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Calibri" panose="020F0502020204030204" pitchFamily="34" charset="0"/>
              </a:rPr>
              <a:t>Behavioral scores act as a multiplier (0.50x to 1.20x) instead of additive, ensuring disengaged candidates naturally drop in rank.</a:t>
            </a:r>
            <a:endParaRPr lang="en-IN" sz="11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A4C94D-CEB9-CDDE-413B-D34654E5B6FF}"/>
              </a:ext>
            </a:extLst>
          </p:cNvPr>
          <p:cNvSpPr txBox="1"/>
          <p:nvPr/>
        </p:nvSpPr>
        <p:spPr>
          <a:xfrm>
            <a:off x="1016000" y="6159500"/>
            <a:ext cx="1016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94A3B8"/>
                </a:solidFill>
                <a:latin typeface="Calibri" panose="020F0502020204030204" pitchFamily="34" charset="0"/>
              </a:rPr>
              <a:t>Slide 7 of 9 | NEXUS Candidate Discovery &amp; Ranking</a:t>
            </a:r>
            <a:endParaRPr lang="en-IN" sz="9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144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9AF3A38-9F1F-F6B2-A61E-4093E6DE7AA5}"/>
              </a:ext>
            </a:extLst>
          </p:cNvPr>
          <p:cNvSpPr txBox="1"/>
          <p:nvPr/>
        </p:nvSpPr>
        <p:spPr>
          <a:xfrm>
            <a:off x="1016000" y="508000"/>
            <a:ext cx="762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 b="1">
                <a:solidFill>
                  <a:srgbClr val="818CF8"/>
                </a:solidFill>
                <a:latin typeface="Trebuchet MS" panose="020B0603020202020204" pitchFamily="34" charset="0"/>
              </a:rPr>
              <a:t>LAYER 5 — EXPLANATIONS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3978AF-8B8D-9241-8063-8B4430D43862}"/>
              </a:ext>
            </a:extLst>
          </p:cNvPr>
          <p:cNvSpPr txBox="1"/>
          <p:nvPr/>
        </p:nvSpPr>
        <p:spPr>
          <a:xfrm>
            <a:off x="1016000" y="762000"/>
            <a:ext cx="1016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Arial" panose="020B0604020202020204" pitchFamily="34" charset="0"/>
              </a:rPr>
              <a:t>Recruiter Trust: Natural Language Reasoning</a:t>
            </a:r>
            <a:endParaRPr lang="en-IN" sz="28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E0025E-24B7-31D1-ABDF-F2F7ED621B7F}"/>
              </a:ext>
            </a:extLst>
          </p:cNvPr>
          <p:cNvSpPr txBox="1"/>
          <p:nvPr/>
        </p:nvSpPr>
        <p:spPr>
          <a:xfrm>
            <a:off x="1016000" y="1460500"/>
            <a:ext cx="1016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94A3B8"/>
                </a:solidFill>
                <a:latin typeface="Calibri" panose="020F0502020204030204" pitchFamily="34" charset="0"/>
              </a:rPr>
              <a:t>Recruiters manually inspect candidate justifications. NEXUS generates detailed, dynamic, non-templated reasoning explanations matching candidate attributes to JD requirements.</a:t>
            </a:r>
            <a:endParaRPr lang="en-IN" sz="14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A6D5BB-E8EA-3D0E-486B-87DE2E8C4E34}"/>
              </a:ext>
            </a:extLst>
          </p:cNvPr>
          <p:cNvSpPr/>
          <p:nvPr/>
        </p:nvSpPr>
        <p:spPr>
          <a:xfrm>
            <a:off x="1016000" y="2667000"/>
            <a:ext cx="3302000" cy="3048000"/>
          </a:xfrm>
          <a:prstGeom prst="rect">
            <a:avLst/>
          </a:prstGeom>
          <a:solidFill>
            <a:srgbClr val="161C2D"/>
          </a:solidFill>
          <a:ln w="1270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2128FC-93BA-54BF-BE47-00A630C10990}"/>
              </a:ext>
            </a:extLst>
          </p:cNvPr>
          <p:cNvSpPr txBox="1"/>
          <p:nvPr/>
        </p:nvSpPr>
        <p:spPr>
          <a:xfrm>
            <a:off x="1143000" y="2794000"/>
            <a:ext cx="304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rial" panose="020B0604020202020204" pitchFamily="34" charset="0"/>
              </a:rPr>
              <a:t>Verifiable Justifications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48797C-F241-3270-33DA-B188EF801E9F}"/>
              </a:ext>
            </a:extLst>
          </p:cNvPr>
          <p:cNvSpPr txBox="1"/>
          <p:nvPr/>
        </p:nvSpPr>
        <p:spPr>
          <a:xfrm>
            <a:off x="1143000" y="3302000"/>
            <a:ext cx="30480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Calibri" panose="020F0502020204030204" pitchFamily="34" charset="0"/>
              </a:rPr>
              <a:t>Explanations refer to actual candidate attributes (years of experience, target skills, current title, and engagement stats) to avoid hallucinations.</a:t>
            </a:r>
            <a:endParaRPr lang="en-IN" sz="11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4C0A4C-9418-61AF-AAE2-CA1611F45C04}"/>
              </a:ext>
            </a:extLst>
          </p:cNvPr>
          <p:cNvSpPr/>
          <p:nvPr/>
        </p:nvSpPr>
        <p:spPr>
          <a:xfrm>
            <a:off x="4572000" y="2667000"/>
            <a:ext cx="3302000" cy="3048000"/>
          </a:xfrm>
          <a:prstGeom prst="rect">
            <a:avLst/>
          </a:prstGeom>
          <a:solidFill>
            <a:srgbClr val="161C2D"/>
          </a:solidFill>
          <a:ln w="1270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D1DCC5-70AF-0550-4374-352EDEF86C81}"/>
              </a:ext>
            </a:extLst>
          </p:cNvPr>
          <p:cNvSpPr txBox="1"/>
          <p:nvPr/>
        </p:nvSpPr>
        <p:spPr>
          <a:xfrm>
            <a:off x="4699000" y="2794000"/>
            <a:ext cx="304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rial" panose="020B0604020202020204" pitchFamily="34" charset="0"/>
              </a:rPr>
              <a:t>Tone &amp; Rank Consistency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EB6B2C-63ED-8E44-33E1-F7318BC4BDDE}"/>
              </a:ext>
            </a:extLst>
          </p:cNvPr>
          <p:cNvSpPr txBox="1"/>
          <p:nvPr/>
        </p:nvSpPr>
        <p:spPr>
          <a:xfrm>
            <a:off x="4699000" y="3302000"/>
            <a:ext cx="30480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Calibri" panose="020F0502020204030204" pitchFamily="34" charset="0"/>
              </a:rPr>
              <a:t>The reasoning text is calibrated to match the rank position — glowing for top candidates, critical for low-tier fits.</a:t>
            </a:r>
            <a:endParaRPr lang="en-IN" sz="11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9ED17A-9993-2870-961D-AA5215E5B823}"/>
              </a:ext>
            </a:extLst>
          </p:cNvPr>
          <p:cNvSpPr/>
          <p:nvPr/>
        </p:nvSpPr>
        <p:spPr>
          <a:xfrm>
            <a:off x="8128000" y="2667000"/>
            <a:ext cx="3302000" cy="3048000"/>
          </a:xfrm>
          <a:prstGeom prst="rect">
            <a:avLst/>
          </a:prstGeom>
          <a:solidFill>
            <a:srgbClr val="161C2D"/>
          </a:solidFill>
          <a:ln w="1270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89FEBF-8DF7-8181-8113-2A471740D76B}"/>
              </a:ext>
            </a:extLst>
          </p:cNvPr>
          <p:cNvSpPr txBox="1"/>
          <p:nvPr/>
        </p:nvSpPr>
        <p:spPr>
          <a:xfrm>
            <a:off x="8255000" y="2794000"/>
            <a:ext cx="304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rial" panose="020B0604020202020204" pitchFamily="34" charset="0"/>
              </a:rPr>
              <a:t>Example (Rank 1)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A2DF6C-BA77-8F00-5058-545A8B455EA6}"/>
              </a:ext>
            </a:extLst>
          </p:cNvPr>
          <p:cNvSpPr txBox="1"/>
          <p:nvPr/>
        </p:nvSpPr>
        <p:spPr>
          <a:xfrm>
            <a:off x="8255000" y="3302000"/>
            <a:ext cx="3048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Calibri" panose="020F0502020204030204" pitchFamily="34" charset="0"/>
              </a:rPr>
              <a:t>'Senior AI Engineer with 7 years experience building RAG systems at product companies; strong recent engagement (100% response rate) and Pune-based.'</a:t>
            </a:r>
            <a:endParaRPr lang="en-IN" sz="11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143C80-2CA0-9957-0D10-F31C25AB7F0C}"/>
              </a:ext>
            </a:extLst>
          </p:cNvPr>
          <p:cNvSpPr txBox="1"/>
          <p:nvPr/>
        </p:nvSpPr>
        <p:spPr>
          <a:xfrm>
            <a:off x="1016000" y="6159500"/>
            <a:ext cx="1016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94A3B8"/>
                </a:solidFill>
                <a:latin typeface="Calibri" panose="020F0502020204030204" pitchFamily="34" charset="0"/>
              </a:rPr>
              <a:t>Slide 8 of 9 | NEXUS Candidate Discovery &amp; Ranking</a:t>
            </a:r>
            <a:endParaRPr lang="en-IN" sz="9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830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B72B03-B1C7-6310-5D98-477CC7D03196}"/>
              </a:ext>
            </a:extLst>
          </p:cNvPr>
          <p:cNvSpPr txBox="1"/>
          <p:nvPr/>
        </p:nvSpPr>
        <p:spPr>
          <a:xfrm>
            <a:off x="1016000" y="508000"/>
            <a:ext cx="7620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000" b="1">
                <a:solidFill>
                  <a:srgbClr val="818CF8"/>
                </a:solidFill>
                <a:latin typeface="Trebuchet MS" panose="020B0603020202020204" pitchFamily="34" charset="0"/>
              </a:rPr>
              <a:t>SUBMISSION STATUS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BB1A08-63F9-A035-423C-E3C0AA434BB9}"/>
              </a:ext>
            </a:extLst>
          </p:cNvPr>
          <p:cNvSpPr txBox="1"/>
          <p:nvPr/>
        </p:nvSpPr>
        <p:spPr>
          <a:xfrm>
            <a:off x="1016000" y="762000"/>
            <a:ext cx="1016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FFFFFF"/>
                </a:solidFill>
                <a:latin typeface="Arial" panose="020B0604020202020204" pitchFamily="34" charset="0"/>
              </a:rPr>
              <a:t>Complete, Validated, and Ready to Submit</a:t>
            </a:r>
            <a:endParaRPr lang="en-IN" sz="28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79E786-738C-FEA3-6A89-17E80ED13E96}"/>
              </a:ext>
            </a:extLst>
          </p:cNvPr>
          <p:cNvSpPr txBox="1"/>
          <p:nvPr/>
        </p:nvSpPr>
        <p:spPr>
          <a:xfrm>
            <a:off x="1016000" y="1460500"/>
            <a:ext cx="10160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94A3B8"/>
                </a:solidFill>
                <a:latin typeface="Calibri" panose="020F0502020204030204" pitchFamily="34" charset="0"/>
              </a:rPr>
              <a:t>NEXUS meets all rules, schemas, and performance criteria of the Data &amp; AI Challenge.</a:t>
            </a:r>
            <a:endParaRPr lang="en-IN" sz="14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05B00B-673D-4B6A-1973-2F85AD644A98}"/>
              </a:ext>
            </a:extLst>
          </p:cNvPr>
          <p:cNvSpPr/>
          <p:nvPr/>
        </p:nvSpPr>
        <p:spPr>
          <a:xfrm>
            <a:off x="1016000" y="2667000"/>
            <a:ext cx="3302000" cy="3048000"/>
          </a:xfrm>
          <a:prstGeom prst="rect">
            <a:avLst/>
          </a:prstGeom>
          <a:solidFill>
            <a:srgbClr val="161C2D"/>
          </a:solidFill>
          <a:ln w="1270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8CE2C20-42F3-A2ED-5002-E4FFF24352AE}"/>
              </a:ext>
            </a:extLst>
          </p:cNvPr>
          <p:cNvSpPr txBox="1"/>
          <p:nvPr/>
        </p:nvSpPr>
        <p:spPr>
          <a:xfrm>
            <a:off x="1143000" y="2794000"/>
            <a:ext cx="304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rial" panose="020B0604020202020204" pitchFamily="34" charset="0"/>
              </a:rPr>
              <a:t>✓ Submission CSV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6A91E8-43F7-35D9-8DEE-0810EB7234C3}"/>
              </a:ext>
            </a:extLst>
          </p:cNvPr>
          <p:cNvSpPr txBox="1"/>
          <p:nvPr/>
        </p:nvSpPr>
        <p:spPr>
          <a:xfrm>
            <a:off x="1143000" y="3302000"/>
            <a:ext cx="30480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Calibri" panose="020F0502020204030204" pitchFamily="34" charset="0"/>
              </a:rPr>
              <a:t>Exactly 100 rows, headers match schema, ranks sorted, validated via script with zero errors. Output matches the team_xxx.csv guidelines.</a:t>
            </a:r>
            <a:endParaRPr lang="en-IN" sz="11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3162AF-48A2-E5E9-5EF3-A160DC2FF144}"/>
              </a:ext>
            </a:extLst>
          </p:cNvPr>
          <p:cNvSpPr/>
          <p:nvPr/>
        </p:nvSpPr>
        <p:spPr>
          <a:xfrm>
            <a:off x="4572000" y="2667000"/>
            <a:ext cx="3302000" cy="3048000"/>
          </a:xfrm>
          <a:prstGeom prst="rect">
            <a:avLst/>
          </a:prstGeom>
          <a:solidFill>
            <a:srgbClr val="161C2D"/>
          </a:solidFill>
          <a:ln w="1270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124518-91DC-1354-3E92-1802C3F2DA82}"/>
              </a:ext>
            </a:extLst>
          </p:cNvPr>
          <p:cNvSpPr txBox="1"/>
          <p:nvPr/>
        </p:nvSpPr>
        <p:spPr>
          <a:xfrm>
            <a:off x="4699000" y="2794000"/>
            <a:ext cx="304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rial" panose="020B0604020202020204" pitchFamily="34" charset="0"/>
              </a:rPr>
              <a:t>✓ Sandbox UI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95D8B9-8A21-7DD3-4EDA-F57A11725FF9}"/>
              </a:ext>
            </a:extLst>
          </p:cNvPr>
          <p:cNvSpPr txBox="1"/>
          <p:nvPr/>
        </p:nvSpPr>
        <p:spPr>
          <a:xfrm>
            <a:off x="4699000" y="3302000"/>
            <a:ext cx="30480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Calibri" panose="020F0502020204030204" pitchFamily="34" charset="0"/>
              </a:rPr>
              <a:t>Stunning interactive Streamlit application (demo/app.py) for visualization, allowing immediate execution on small-sample uploads.</a:t>
            </a:r>
            <a:endParaRPr lang="en-IN" sz="11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44A57A-955F-083F-6660-307997B79A1B}"/>
              </a:ext>
            </a:extLst>
          </p:cNvPr>
          <p:cNvSpPr/>
          <p:nvPr/>
        </p:nvSpPr>
        <p:spPr>
          <a:xfrm>
            <a:off x="8128000" y="2667000"/>
            <a:ext cx="3302000" cy="3048000"/>
          </a:xfrm>
          <a:prstGeom prst="rect">
            <a:avLst/>
          </a:prstGeom>
          <a:solidFill>
            <a:srgbClr val="161C2D"/>
          </a:solidFill>
          <a:ln w="12700">
            <a:solidFill>
              <a:srgbClr val="6366F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2D9E1A-76E8-AEDA-2AE1-19D943097E0C}"/>
              </a:ext>
            </a:extLst>
          </p:cNvPr>
          <p:cNvSpPr txBox="1"/>
          <p:nvPr/>
        </p:nvSpPr>
        <p:spPr>
          <a:xfrm>
            <a:off x="8255000" y="2794000"/>
            <a:ext cx="3048000" cy="29238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1300" b="1">
                <a:solidFill>
                  <a:srgbClr val="FFFFFF"/>
                </a:solidFill>
                <a:latin typeface="Arial" panose="020B0604020202020204" pitchFamily="34" charset="0"/>
              </a:rPr>
              <a:t>✓ Code Repository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DEDC5B5-F584-DDFE-C1DC-34F32EE4C277}"/>
              </a:ext>
            </a:extLst>
          </p:cNvPr>
          <p:cNvSpPr txBox="1"/>
          <p:nvPr/>
        </p:nvSpPr>
        <p:spPr>
          <a:xfrm>
            <a:off x="8255000" y="3302000"/>
            <a:ext cx="30480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100">
                <a:solidFill>
                  <a:srgbClr val="94A3B8"/>
                </a:solidFill>
                <a:latin typeface="Calibri" panose="020F0502020204030204" pitchFamily="34" charset="0"/>
              </a:rPr>
              <a:t>Clean, complete GitHub repo with 5 distinct commits demonstrating Git history authenticity and real development iteration.</a:t>
            </a:r>
            <a:endParaRPr lang="en-IN" sz="11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E78A49-FA9D-94FF-7B2F-A9E3A2960080}"/>
              </a:ext>
            </a:extLst>
          </p:cNvPr>
          <p:cNvSpPr txBox="1"/>
          <p:nvPr/>
        </p:nvSpPr>
        <p:spPr>
          <a:xfrm>
            <a:off x="1016000" y="6159500"/>
            <a:ext cx="1016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900">
                <a:solidFill>
                  <a:srgbClr val="94A3B8"/>
                </a:solidFill>
                <a:latin typeface="Calibri" panose="020F0502020204030204" pitchFamily="34" charset="0"/>
              </a:rPr>
              <a:t>Slide 9 of 9 | NEXUS Candidate Discovery &amp; Ranking</a:t>
            </a:r>
            <a:endParaRPr lang="en-IN" sz="900">
              <a:solidFill>
                <a:srgbClr val="94A3B8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247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962</Words>
  <Application>Microsoft Office PowerPoint</Application>
  <PresentationFormat>Custom</PresentationFormat>
  <Paragraphs>86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Arial Black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Arya Ajayan</dc:creator>
  <cp:lastModifiedBy>Arya Ajayan</cp:lastModifiedBy>
  <cp:revision>1</cp:revision>
  <dcterms:created xsi:type="dcterms:W3CDTF">2026-06-29T18:20:38Z</dcterms:created>
  <dcterms:modified xsi:type="dcterms:W3CDTF">2026-06-29T18:20:38Z</dcterms:modified>
</cp:coreProperties>
</file>